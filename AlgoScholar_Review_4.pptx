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235D9-84EA-936E-50C3-D913222EFA96}" v="23" dt="2026-10-07T08:39:22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528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1281999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rPr lang="en-IN" sz="4200" b="1" dirty="0">
                <a:solidFill>
                  <a:srgbClr val="FFFFFF"/>
                </a:solidFill>
                <a:latin typeface="Aptos Display"/>
              </a:rPr>
              <a:t>Smart Research Paper Recommendation System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689372"/>
            <a:ext cx="146963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CDDCF0"/>
                </a:solidFill>
                <a:latin typeface="Aptos"/>
              </a:defRPr>
            </a:pPr>
            <a:r>
              <a:rPr dirty="0"/>
              <a:t>Review 4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Built using Data Structures &amp; Algorithms from scratch</a:t>
            </a:r>
          </a:p>
          <a:p>
            <a:pPr>
              <a:defRPr sz="1500">
                <a:solidFill>
                  <a:srgbClr val="AFC3DC"/>
                </a:solidFill>
              </a:defRPr>
            </a:pPr>
            <a:r>
              <a:rPr dirty="0"/>
              <a:t>Focus: accuracy • technical competence • innovation • utility •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D"/>
                </a:solidFill>
                <a:latin typeface="Aptos Display"/>
              </a:defRPr>
            </a:pPr>
            <a:r>
              <a:t>System 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Three-layer architecture with in-memory indexing and REST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277" y="1326975"/>
            <a:ext cx="10149840" cy="713232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73152" cy="713232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399032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828800"/>
            <a:ext cx="9784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HTML + CSS + JavaScript + D3.js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13597"/>
            <a:ext cx="10149840" cy="713232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148840"/>
            <a:ext cx="73152" cy="71323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313432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Flask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43200"/>
            <a:ext cx="9784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/recommend • /graph • /metrics • /trends • /lab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45618"/>
            <a:ext cx="10149840" cy="713232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063240"/>
            <a:ext cx="73152" cy="713232"/>
          </a:xfrm>
          <a:prstGeom prst="rect">
            <a:avLst/>
          </a:prstGeom>
          <a:solidFill>
            <a:srgbClr val="2D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3227832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Algorithm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657600"/>
            <a:ext cx="9784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BM25 • PageRank • Smith-Waterman • graph/string/flow algorithms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42396"/>
            <a:ext cx="10149840" cy="713232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3977639"/>
            <a:ext cx="73152" cy="713232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142231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In-Memory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72000"/>
            <a:ext cx="9784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5,000 papers • inverted index • citation graph • scores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89320" y="1947672"/>
            <a:ext cx="0" cy="18288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2862072"/>
            <a:ext cx="0" cy="18288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89320" y="3776472"/>
            <a:ext cx="0" cy="18288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D"/>
                </a:solidFill>
                <a:latin typeface="Aptos Display"/>
              </a:defRPr>
            </a:pPr>
            <a:r>
              <a:t>Technical Competence – Core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Implemented from scratch and integrated into one end-to-end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15468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BM25 + Inverted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27889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Retrieves the best 500 candidates using term statistics.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234440"/>
            <a:ext cx="315468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0" y="1234440"/>
            <a:ext cx="73152" cy="13258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139903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Smith-Waterman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828800"/>
            <a:ext cx="27889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Fuzzy/local alignment handles spelling variation and partial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315468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325880"/>
          </a:xfrm>
          <a:prstGeom prst="rect">
            <a:avLst/>
          </a:prstGeom>
          <a:solidFill>
            <a:srgbClr val="2D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44968" y="139903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PageRank +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1828800"/>
            <a:ext cx="27889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Ranks paper authority using the derived citation graph.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315468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880360"/>
            <a:ext cx="73152" cy="132588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04495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Aho-Corasick / Trie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474720"/>
            <a:ext cx="27889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Multi-keyword matching and exact term detection.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2880360"/>
            <a:ext cx="315468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0" y="2880360"/>
            <a:ext cx="73152" cy="13258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304495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Blelloch Prefix Sum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474720"/>
            <a:ext cx="27889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Adds a positional boost to the hybrid ranking.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2880360"/>
            <a:ext cx="315468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43800" y="2880360"/>
            <a:ext cx="73152" cy="132588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44968" y="304495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Advanced Algorithm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3474720"/>
            <a:ext cx="27889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Suffix Array + Kasai, Wagner-Fischer, Dinic, Min-Cut, Hopcroft-Karp, Vertex Cover, Set Cover, Reservoir Sampling.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D"/>
                </a:solidFill>
                <a:latin typeface="Aptos Display"/>
              </a:defRPr>
            </a:pPr>
            <a:r>
              <a:t>Hybrid Recommendation – How Accuracy Is Improved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Five signals are combined transparently instead of using a single keyword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965960" cy="20116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D"/>
                </a:solidFill>
              </a:defRPr>
            </a:pPr>
            <a:r>
              <a:t>BM25 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9196"/>
                </a:solidFill>
              </a:defRPr>
            </a:pPr>
            <a:r>
              <a:t>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Text relevance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17320"/>
            <a:ext cx="1965960" cy="20116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D"/>
                </a:solidFill>
              </a:defRPr>
            </a:pPr>
            <a:r>
              <a:t>Smith-Waterman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4884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9196"/>
                </a:solidFill>
              </a:defRPr>
            </a:pPr>
            <a: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6148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Fuzzy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417320"/>
            <a:ext cx="1965960" cy="20116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627632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D"/>
                </a:solidFill>
              </a:defRPr>
            </a:pPr>
            <a:r>
              <a:t>PageRank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9196"/>
                </a:solidFill>
              </a:defRPr>
            </a:pPr>
            <a: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76148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Paper authority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417320"/>
            <a:ext cx="1965960" cy="20116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1627632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D"/>
                </a:solidFill>
              </a:defRPr>
            </a:pPr>
            <a:r>
              <a:t>Citation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14884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9196"/>
                </a:solidFill>
              </a:defRPr>
            </a:pPr>
            <a: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6148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Recent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417320"/>
            <a:ext cx="1965960" cy="20116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800" y="1627632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3D"/>
                </a:solidFill>
              </a:defRPr>
            </a:pPr>
            <a:r>
              <a:t>Blelloch 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14884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9196"/>
                </a:solidFill>
              </a:defRPr>
            </a:pPr>
            <a: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761488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Positional boost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069080"/>
            <a:ext cx="9966960" cy="1051560"/>
          </a:xfrm>
          <a:prstGeom prst="round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25880" y="4315968"/>
            <a:ext cx="9509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Score(d) = 0.45·BM25 + 0.20·SW + 0.20·PageRank + 0.10·Trend + 0.05·Scan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D"/>
                </a:solidFill>
                <a:latin typeface="Aptos Display"/>
              </a:defRPr>
            </a:pPr>
            <a:r>
              <a:t>Results – Accuracy, Performance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33756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55448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29718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5,000 papers • 15 years • 77 keywords • 14,880 graph edges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3756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5544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3990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Index &amp;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828800"/>
            <a:ext cx="29718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BM25 index: 0.19 s • Graph: 0.017 s • PageRank: 0.056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34440"/>
            <a:ext cx="333756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73152" cy="155448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13990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Search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828800"/>
            <a:ext cx="29718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BM25: under 2 ms • Hybrid: 68–787 ms depending on candidates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512064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154680"/>
            <a:ext cx="73152" cy="1554480"/>
          </a:xfrm>
          <a:prstGeom prst="rect">
            <a:avLst/>
          </a:prstGeom>
          <a:solidFill>
            <a:srgbClr val="2D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319272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Correctness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749040"/>
            <a:ext cx="47548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14 automated checks were created. 12 passed; 2 failures were isolated to the Blelloch inclusive-scan conversion.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154680"/>
            <a:ext cx="539496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3154680"/>
            <a:ext cx="73152" cy="15544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33192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Important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749040"/>
            <a:ext cx="5029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The report measures algorithm behaviour and speed; human relevance labels were not collected, so retrieval accuracy was not evaluated with precision/nDCG.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Observed scaling follows expected theoretical behaviour for the tested algorithms.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The hybrid ranking substantially changes the BM25 top-10 ordering, showing that multiple signals affect recommendations.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D"/>
                </a:solidFill>
                <a:latin typeface="Aptos Display"/>
              </a:defRPr>
            </a:pPr>
            <a:r>
              <a:t>Innovation &amp; Sustainable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Why the project is more than a basic search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74720" cy="164592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6459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Transparent AI-like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Every recommendation is explainable through visible weighted signals rather than a black-box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74720" cy="164592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64592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39903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Algorithm Learning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The Algorithm Lab lets users run and observe multiple DSA algorithms on their own inputs.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74720" cy="164592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645920"/>
          </a:xfrm>
          <a:prstGeom prst="rect">
            <a:avLst/>
          </a:prstGeom>
          <a:solidFill>
            <a:srgbClr val="2D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39903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Research Productivity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Students can search, compare, inspect graph relationships and explore paper trends in one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3474720" cy="164592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73152" cy="164592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4107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Sustainable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In-memory precomputation avoids repeated graph/PageRank work for every request.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246120"/>
            <a:ext cx="3474720" cy="164592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246120"/>
            <a:ext cx="73152" cy="164592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4107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Modular &amp; Extensible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Separate interface, API and algorithm layers make future upgrades easier.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246120"/>
            <a:ext cx="3474720" cy="164592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246120"/>
            <a:ext cx="73152" cy="164592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34107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Future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Semantic search, real citation data, user profiles and persistent storage can extend the system.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5936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700" b="1">
                <a:solidFill>
                  <a:srgbClr val="14223D"/>
                </a:solidFill>
                <a:latin typeface="Aptos Display"/>
              </a:defRPr>
            </a:pPr>
            <a:r>
              <a:t>Utility</a:t>
            </a:r>
            <a:endParaRPr lang="en-US"/>
          </a:p>
          <a:p>
            <a:pPr>
              <a:defRPr sz="2700" b="1">
                <a:solidFill>
                  <a:srgbClr val="14223D"/>
                </a:solidFill>
                <a:latin typeface="Aptos Display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400800" cy="24929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Search: ranked research papers with score, year and citation count.</a:t>
            </a:r>
          </a:p>
          <a:p>
            <a:pPr>
              <a:spcAft>
                <a:spcPts val="8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Citation Graph: interactive network, paper inspector and shortest-path exploration.</a:t>
            </a:r>
          </a:p>
          <a:p>
            <a:pPr>
              <a:spcAft>
                <a:spcPts val="8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Analytics: graph metrics, degree/PageRank distributions and citation timeline.</a:t>
            </a:r>
          </a:p>
          <a:p>
            <a:pPr>
              <a:spcAft>
                <a:spcPts val="8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• Algorithm Lab: reference table plus editable demonstrations for implemented algorithms.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234440"/>
            <a:ext cx="3749039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43800" y="1234440"/>
            <a:ext cx="73152" cy="100584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44968" y="1399032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1. Enter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68" y="182880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Example: “deep learning”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4989" y="2515836"/>
            <a:ext cx="3749039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84989" y="2515836"/>
            <a:ext cx="73152" cy="1005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8" y="2587752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2. Hybrid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301752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BM25 → fuzzy match → PageRank → trend →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611880"/>
            <a:ext cx="3749039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3611880"/>
            <a:ext cx="73152" cy="1005840"/>
          </a:xfrm>
          <a:prstGeom prst="rect">
            <a:avLst/>
          </a:prstGeom>
          <a:solidFill>
            <a:srgbClr val="2D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44968" y="3776472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3.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420624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Open paper results, graph and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893276"/>
            <a:ext cx="3749039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4893276"/>
            <a:ext cx="73152" cy="100584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44968" y="4965192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D"/>
                </a:solidFill>
                <a:latin typeface="Aptos"/>
              </a:defRPr>
            </a:pPr>
            <a:r>
              <a:t>4. 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539496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7"/>
                </a:solidFill>
                <a:latin typeface="Aptos"/>
              </a:defRPr>
            </a:pPr>
            <a:r>
              <a:t>Use Algorithm Lab to show DSA implementation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650</Words>
  <Application>Microsoft Office PowerPoint</Application>
  <PresentationFormat>Widescreen</PresentationFormat>
  <Paragraphs>94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ASHWITHNATH REDDY</dc:creator>
  <cp:keywords/>
  <dc:description>generated using python-pptx</dc:description>
  <cp:lastModifiedBy>SURARAM ASHWITHNATH REDDY</cp:lastModifiedBy>
  <cp:revision>13</cp:revision>
  <dcterms:created xsi:type="dcterms:W3CDTF">2013-01-27T09:14:16Z</dcterms:created>
  <dcterms:modified xsi:type="dcterms:W3CDTF">2026-10-07T12:34:34Z</dcterms:modified>
  <cp:category/>
</cp:coreProperties>
</file>